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roblem" id="{1ae9e03e-28b7-a673-796a-345075de108d}">
          <p14:sldIdLst>
            <p14:sldId id="256"/>
          </p14:sldIdLst>
        </p14:section>
        <p14:section name="Approach" id="{485a53de-b349-e0f0-a69a-a847eee82af0}">
          <p14:sldIdLst>
            <p14:sldId id="257"/>
          </p14:sldIdLst>
        </p14:section>
        <p14:section name="Model" id="{ecb04a63-f333-6a63-c926-2849e6d4e1e5}">
          <p14:sldIdLst>
            <p14:sldId id="258"/>
          </p14:sldIdLst>
        </p14:section>
        <p14:section name="Findings" id="{0719587e-6859-ae8d-4814-cffdfd32e959}">
          <p14:sldIdLst>
            <p14:sldId id="259"/>
          </p14:sldIdLst>
        </p14:section>
        <p14:section name="Recommendations" id="{404c5860-b29f-8875-2ac2-000fba60abed}">
          <p14:sldIdLst>
            <p14:sldId id="26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600" b="0" i="0" u="none" strike="noStrike">
                <a:solidFill>
                  <a:srgbClr val="1E2A44"/>
                </a:solidFill>
                <a:latin typeface="+mn-lt"/>
              </a:defRPr>
            </a:pPr>
            <a:r>
              <a:rPr sz="1600" b="0" i="0" u="none" strike="noStrike">
                <a:solidFill>
                  <a:srgbClr val="1E2A44"/>
                </a:solidFill>
                <a:latin typeface="+mn-lt"/>
              </a:rPr>
              <a:t>Attrition rate by group</a:t>
            </a:r>
          </a:p>
        </c:rich>
      </c:tx>
      <c:layout/>
      <c:overlay val="0"/>
    </c:title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Group</c:v>
                </c:pt>
              </c:strCache>
            </c:strRef>
          </c:tx>
          <c:spPr>
            <a:solidFill>
              <a:srgbClr val="118DFF"/>
            </a:solidFill>
            <a:effectLst/>
          </c:spPr>
          <c:invertIfNegative val="0"/>
          <c:dLbls>
            <c:numFmt formatCode="0.0%;;;" sourceLinked="0"/>
            <c:txPr>
              <a:bodyPr/>
              <a:lstStyle/>
              <a:p>
                <a:pPr>
                  <a:defRPr b="1" i="0" strike="noStrike" sz="14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Sales Representatives</c:v>
                  </c:pt>
                  <c:pt idx="1">
                    <c:v>0-1 years at the company</c:v>
                  </c:pt>
                  <c:pt idx="2">
                    <c:v>Bad work-life balance</c:v>
                  </c:pt>
                  <c:pt idx="3">
                    <c:v>Works overtime</c:v>
                  </c:pt>
                  <c:pt idx="4">
                    <c:v>Low job satisfaction</c:v>
                  </c:pt>
                  <c:pt idx="5">
                    <c:v>Company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0.39759036144578314</c:v>
                </c:pt>
                <c:pt idx="1">
                  <c:v>0.3488372093023256</c:v>
                </c:pt>
                <c:pt idx="2">
                  <c:v>0.3125</c:v>
                </c:pt>
                <c:pt idx="3">
                  <c:v>0.30528846153846156</c:v>
                </c:pt>
                <c:pt idx="4">
                  <c:v>0.22837370242214533</c:v>
                </c:pt>
                <c:pt idx="5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Company</c:v>
                </c:pt>
              </c:strCache>
            </c:strRef>
          </c:tx>
          <c:spPr>
            <a:solidFill>
              <a:srgbClr val="9AA7BA"/>
            </a:solidFill>
            <a:effectLst/>
          </c:spPr>
          <c:invertIfNegative val="0"/>
          <c:dLbls>
            <c:numFmt formatCode="0.0%;;;" sourceLinked="0"/>
            <c:txPr>
              <a:bodyPr/>
              <a:lstStyle/>
              <a:p>
                <a:pPr>
                  <a:defRPr b="1" i="0" strike="noStrike" sz="14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Sales Representatives</c:v>
                  </c:pt>
                  <c:pt idx="1">
                    <c:v>0-1 years at the company</c:v>
                  </c:pt>
                  <c:pt idx="2">
                    <c:v>Bad work-life balance</c:v>
                  </c:pt>
                  <c:pt idx="3">
                    <c:v>Works overtime</c:v>
                  </c:pt>
                  <c:pt idx="4">
                    <c:v>Low job satisfaction</c:v>
                  </c:pt>
                  <c:pt idx="5">
                    <c:v>Company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0.16122448979591836</c:v>
                </c:pt>
              </c:numCache>
            </c:numRef>
          </c:val>
        </c:ser>
        <c:dLbls>
          <c:numFmt formatCode="0.0%;;;" sourceLinked="0"/>
          <c:txPr>
            <a:bodyPr/>
            <a:lstStyle/>
            <a:p>
              <a:pPr>
                <a:defRPr b="1" i="0" strike="noStrike" sz="1400" u="none">
                  <a:solidFill>
                    <a:srgbClr val="FFFFFF"/>
                  </a:solidFill>
                  <a:latin typeface="+mn-lt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10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1E2A44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question: why do people leave, and what can HR and L&amp;D do about it? The answer comes from a Power BI dashboard built on the IBM HR sample.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stage is validated before the next one starts. The model also tests itself on every refresh (Data Quality page).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a star schema on one flat file: clean slicers, simple DAX, and room to add real HR tables later.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Overtime goes with higher attrition in 8 of 9 job roles, within roles (odds ratio 4.3) and in a logistic regression with tenure, satisfaction, job level, stock options and other factors (odds ratio 5.0).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action has a measure in the dashboard to track it. Run them as pilots with a comparison group, because the data shows associations, not causes.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TITLE">
    <p:bg>
      <p:bgPr>
        <a:solidFill>
          <a:srgbClr val="1E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097280"/>
            <a:ext cx="1106424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E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Talent &amp; Learning Analytics Dashboard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54864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Talent &amp; Learning Analytics Dashboard</a:t>
            </a:r>
            <a:endParaRPr lang="en-US" sz="18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097280"/>
            <a:ext cx="11064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16.1% of employees left - where, why, and what HR can do</a:t>
            </a:r>
            <a:endParaRPr lang="en-US" sz="4000" dirty="0"/>
          </a:p>
        </p:txBody>
      </p:sp>
      <p:sp>
        <p:nvSpPr>
          <p:cNvPr id="4" name="stat 1 card"/>
          <p:cNvSpPr/>
          <p:nvPr/>
        </p:nvSpPr>
        <p:spPr>
          <a:xfrm>
            <a:off x="548640" y="2971800"/>
            <a:ext cx="3383280" cy="1920240"/>
          </a:xfrm>
          <a:prstGeom prst="roundRect">
            <a:avLst>
              <a:gd name="adj" fmla="val 5714"/>
            </a:avLst>
          </a:prstGeom>
          <a:solidFill>
            <a:srgbClr val="2A3A5C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5" name="stat 1 value"/>
          <p:cNvSpPr txBox="1"/>
          <p:nvPr/>
        </p:nvSpPr>
        <p:spPr>
          <a:xfrm>
            <a:off x="822960" y="3154680"/>
            <a:ext cx="2834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bg1"/>
                </a:solidFill>
              </a:rPr>
              <a:t>1,470</a:t>
            </a:r>
            <a:endParaRPr lang="en-US" sz="6000" dirty="0"/>
          </a:p>
        </p:txBody>
      </p:sp>
      <p:sp>
        <p:nvSpPr>
          <p:cNvPr id="6" name="stat 1 label"/>
          <p:cNvSpPr txBox="1"/>
          <p:nvPr/>
        </p:nvSpPr>
        <p:spPr>
          <a:xfrm>
            <a:off x="822960" y="42062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accent5"/>
                </a:solidFill>
              </a:rPr>
              <a:t>employees</a:t>
            </a:r>
            <a:endParaRPr lang="en-US" sz="1800" dirty="0"/>
          </a:p>
        </p:txBody>
      </p:sp>
      <p:sp>
        <p:nvSpPr>
          <p:cNvPr id="7" name="stat 2 card"/>
          <p:cNvSpPr/>
          <p:nvPr/>
        </p:nvSpPr>
        <p:spPr>
          <a:xfrm>
            <a:off x="4297680" y="2971800"/>
            <a:ext cx="3383280" cy="1920240"/>
          </a:xfrm>
          <a:prstGeom prst="roundRect">
            <a:avLst>
              <a:gd name="adj" fmla="val 5714"/>
            </a:avLst>
          </a:prstGeom>
          <a:solidFill>
            <a:srgbClr val="2A3A5C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8" name="stat 2 value"/>
          <p:cNvSpPr txBox="1"/>
          <p:nvPr/>
        </p:nvSpPr>
        <p:spPr>
          <a:xfrm>
            <a:off x="4572000" y="3154680"/>
            <a:ext cx="2834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bg1"/>
                </a:solidFill>
              </a:rPr>
              <a:t>237</a:t>
            </a:r>
            <a:endParaRPr lang="en-US" sz="6000" dirty="0"/>
          </a:p>
        </p:txBody>
      </p:sp>
      <p:sp>
        <p:nvSpPr>
          <p:cNvPr id="9" name="stat 2 label"/>
          <p:cNvSpPr txBox="1"/>
          <p:nvPr/>
        </p:nvSpPr>
        <p:spPr>
          <a:xfrm>
            <a:off x="4572000" y="42062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accent5"/>
                </a:solidFill>
              </a:rPr>
              <a:t>leavers</a:t>
            </a:r>
            <a:endParaRPr lang="en-US" sz="1800" dirty="0"/>
          </a:p>
        </p:txBody>
      </p:sp>
      <p:sp>
        <p:nvSpPr>
          <p:cNvPr id="10" name="stat 3 card"/>
          <p:cNvSpPr/>
          <p:nvPr/>
        </p:nvSpPr>
        <p:spPr>
          <a:xfrm>
            <a:off x="8046720" y="2971800"/>
            <a:ext cx="3383280" cy="1920240"/>
          </a:xfrm>
          <a:prstGeom prst="roundRect">
            <a:avLst>
              <a:gd name="adj" fmla="val 5714"/>
            </a:avLst>
          </a:prstGeom>
          <a:solidFill>
            <a:srgbClr val="2A3A5C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11" name="stat 3 value"/>
          <p:cNvSpPr txBox="1"/>
          <p:nvPr/>
        </p:nvSpPr>
        <p:spPr>
          <a:xfrm>
            <a:off x="8321040" y="3154680"/>
            <a:ext cx="2834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2"/>
                </a:solidFill>
              </a:rPr>
              <a:t>16.1%</a:t>
            </a:r>
            <a:endParaRPr lang="en-US" sz="6000" dirty="0"/>
          </a:p>
        </p:txBody>
      </p:sp>
      <p:sp>
        <p:nvSpPr>
          <p:cNvPr id="12" name="stat 3 label"/>
          <p:cNvSpPr txBox="1"/>
          <p:nvPr/>
        </p:nvSpPr>
        <p:spPr>
          <a:xfrm>
            <a:off x="8321040" y="42062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accent5"/>
                </a:solidFill>
              </a:rPr>
              <a:t>attrition rate</a:t>
            </a:r>
            <a:endParaRPr lang="en-US" sz="1800" dirty="0"/>
          </a:p>
        </p:txBody>
      </p:sp>
      <p:sp>
        <p:nvSpPr>
          <p:cNvPr id="13" name="subtitle"/>
          <p:cNvSpPr txBox="1"/>
          <p:nvPr/>
        </p:nvSpPr>
        <p:spPr>
          <a:xfrm>
            <a:off x="548640" y="57607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Power BI | Power Query | DAX | Excel - IBM HR sample data (fictional), one point-in-time snapshot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From a raw CSV to a self-testing Power BI model</a:t>
            </a:r>
            <a:endParaRPr lang="en-US" sz="3600" dirty="0"/>
          </a:p>
        </p:txBody>
      </p:sp>
      <p:sp>
        <p:nvSpPr>
          <p:cNvPr id="3" name="step 1 card"/>
          <p:cNvSpPr/>
          <p:nvPr/>
        </p:nvSpPr>
        <p:spPr>
          <a:xfrm>
            <a:off x="548640" y="1463040"/>
            <a:ext cx="2011680" cy="1965960"/>
          </a:xfrm>
          <a:prstGeom prst="roundRect">
            <a:avLst>
              <a:gd name="adj" fmla="val 5581"/>
            </a:avLst>
          </a:prstGeom>
          <a:solidFill>
            <a:srgbClr val="F2F5FA"/>
          </a:solidFill>
          <a:ln w="12700">
            <a:solidFill>
              <a:srgbClr val="F2F5FA"/>
            </a:solidFill>
            <a:prstDash val="solid"/>
          </a:ln>
        </p:spPr>
      </p:sp>
      <p:sp>
        <p:nvSpPr>
          <p:cNvPr id="4" name="step 1 circle"/>
          <p:cNvSpPr/>
          <p:nvPr/>
        </p:nvSpPr>
        <p:spPr>
          <a:xfrm>
            <a:off x="777240" y="1691640"/>
            <a:ext cx="502920" cy="502920"/>
          </a:xfrm>
          <a:prstGeom prst="ellipse">
            <a:avLst/>
          </a:prstGeom>
          <a:solidFill>
            <a:srgbClr val="118DFF"/>
          </a:solidFill>
          <a:ln w="12700">
            <a:solidFill>
              <a:srgbClr val="118DFF"/>
            </a:solidFill>
            <a:prstDash val="solid"/>
          </a:ln>
        </p:spPr>
      </p:sp>
      <p:sp>
        <p:nvSpPr>
          <p:cNvPr id="5" name="step 1 number"/>
          <p:cNvSpPr txBox="1"/>
          <p:nvPr/>
        </p:nvSpPr>
        <p:spPr>
          <a:xfrm>
            <a:off x="77724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step 1 head"/>
          <p:cNvSpPr txBox="1"/>
          <p:nvPr/>
        </p:nvSpPr>
        <p:spPr>
          <a:xfrm>
            <a:off x="777240" y="233172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Raw data</a:t>
            </a:r>
            <a:endParaRPr lang="en-US" sz="1800" dirty="0"/>
          </a:p>
        </p:txBody>
      </p:sp>
      <p:sp>
        <p:nvSpPr>
          <p:cNvPr id="7" name="step 1 body"/>
          <p:cNvSpPr txBox="1"/>
          <p:nvPr/>
        </p:nvSpPr>
        <p:spPr>
          <a:xfrm>
            <a:off x="777240" y="274320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1,470 employees x 35 columns</a:t>
            </a:r>
            <a:endParaRPr lang="en-US" sz="1400" dirty="0"/>
          </a:p>
        </p:txBody>
      </p:sp>
      <p:sp>
        <p:nvSpPr>
          <p:cNvPr id="8" name="arrow 1"/>
          <p:cNvSpPr/>
          <p:nvPr/>
        </p:nvSpPr>
        <p:spPr>
          <a:xfrm>
            <a:off x="2612898" y="2331720"/>
            <a:ext cx="146304" cy="292608"/>
          </a:xfrm>
          <a:prstGeom prst="chevron">
            <a:avLst/>
          </a:prstGeom>
          <a:solidFill>
            <a:srgbClr val="9AA7BA"/>
          </a:solidFill>
          <a:ln w="12700">
            <a:solidFill>
              <a:srgbClr val="9AA7BA"/>
            </a:solidFill>
            <a:prstDash val="solid"/>
          </a:ln>
        </p:spPr>
      </p:sp>
      <p:sp>
        <p:nvSpPr>
          <p:cNvPr id="9" name="step 2 card"/>
          <p:cNvSpPr/>
          <p:nvPr/>
        </p:nvSpPr>
        <p:spPr>
          <a:xfrm>
            <a:off x="2811780" y="1463040"/>
            <a:ext cx="2011680" cy="1965960"/>
          </a:xfrm>
          <a:prstGeom prst="roundRect">
            <a:avLst>
              <a:gd name="adj" fmla="val 5581"/>
            </a:avLst>
          </a:prstGeom>
          <a:solidFill>
            <a:srgbClr val="F2F5FA"/>
          </a:solidFill>
          <a:ln w="12700">
            <a:solidFill>
              <a:srgbClr val="F2F5FA"/>
            </a:solidFill>
            <a:prstDash val="solid"/>
          </a:ln>
        </p:spPr>
      </p:sp>
      <p:sp>
        <p:nvSpPr>
          <p:cNvPr id="10" name="step 2 circle"/>
          <p:cNvSpPr/>
          <p:nvPr/>
        </p:nvSpPr>
        <p:spPr>
          <a:xfrm>
            <a:off x="3040380" y="1691640"/>
            <a:ext cx="502920" cy="502920"/>
          </a:xfrm>
          <a:prstGeom prst="ellipse">
            <a:avLst/>
          </a:prstGeom>
          <a:solidFill>
            <a:srgbClr val="118DFF"/>
          </a:solidFill>
          <a:ln w="12700">
            <a:solidFill>
              <a:srgbClr val="118DFF"/>
            </a:solidFill>
            <a:prstDash val="solid"/>
          </a:ln>
        </p:spPr>
      </p:sp>
      <p:sp>
        <p:nvSpPr>
          <p:cNvPr id="11" name="step 2 number"/>
          <p:cNvSpPr txBox="1"/>
          <p:nvPr/>
        </p:nvSpPr>
        <p:spPr>
          <a:xfrm>
            <a:off x="304038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step 2 head"/>
          <p:cNvSpPr txBox="1"/>
          <p:nvPr/>
        </p:nvSpPr>
        <p:spPr>
          <a:xfrm>
            <a:off x="3040380" y="233172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Excel</a:t>
            </a:r>
            <a:endParaRPr lang="en-US" sz="1800" dirty="0"/>
          </a:p>
        </p:txBody>
      </p:sp>
      <p:sp>
        <p:nvSpPr>
          <p:cNvPr id="13" name="step 2 body"/>
          <p:cNvSpPr txBox="1"/>
          <p:nvPr/>
        </p:nvSpPr>
        <p:spPr>
          <a:xfrm>
            <a:off x="3040380" y="274320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Profiling + lookup tables</a:t>
            </a:r>
            <a:endParaRPr lang="en-US" sz="1400" dirty="0"/>
          </a:p>
        </p:txBody>
      </p:sp>
      <p:sp>
        <p:nvSpPr>
          <p:cNvPr id="14" name="arrow 2"/>
          <p:cNvSpPr/>
          <p:nvPr/>
        </p:nvSpPr>
        <p:spPr>
          <a:xfrm>
            <a:off x="4876038" y="2331720"/>
            <a:ext cx="146304" cy="292608"/>
          </a:xfrm>
          <a:prstGeom prst="chevron">
            <a:avLst/>
          </a:prstGeom>
          <a:solidFill>
            <a:srgbClr val="9AA7BA"/>
          </a:solidFill>
          <a:ln w="12700">
            <a:solidFill>
              <a:srgbClr val="9AA7BA"/>
            </a:solidFill>
            <a:prstDash val="solid"/>
          </a:ln>
        </p:spPr>
      </p:sp>
      <p:sp>
        <p:nvSpPr>
          <p:cNvPr id="15" name="step 3 card"/>
          <p:cNvSpPr/>
          <p:nvPr/>
        </p:nvSpPr>
        <p:spPr>
          <a:xfrm>
            <a:off x="5074920" y="1463040"/>
            <a:ext cx="2011680" cy="1965960"/>
          </a:xfrm>
          <a:prstGeom prst="roundRect">
            <a:avLst>
              <a:gd name="adj" fmla="val 5581"/>
            </a:avLst>
          </a:prstGeom>
          <a:solidFill>
            <a:srgbClr val="F2F5FA"/>
          </a:solidFill>
          <a:ln w="12700">
            <a:solidFill>
              <a:srgbClr val="F2F5FA"/>
            </a:solidFill>
            <a:prstDash val="solid"/>
          </a:ln>
        </p:spPr>
      </p:sp>
      <p:sp>
        <p:nvSpPr>
          <p:cNvPr id="16" name="step 3 circle"/>
          <p:cNvSpPr/>
          <p:nvPr/>
        </p:nvSpPr>
        <p:spPr>
          <a:xfrm>
            <a:off x="5303520" y="1691640"/>
            <a:ext cx="502920" cy="502920"/>
          </a:xfrm>
          <a:prstGeom prst="ellipse">
            <a:avLst/>
          </a:prstGeom>
          <a:solidFill>
            <a:srgbClr val="118DFF"/>
          </a:solidFill>
          <a:ln w="12700">
            <a:solidFill>
              <a:srgbClr val="118DFF"/>
            </a:solidFill>
            <a:prstDash val="solid"/>
          </a:ln>
        </p:spPr>
      </p:sp>
      <p:sp>
        <p:nvSpPr>
          <p:cNvPr id="17" name="step 3 number"/>
          <p:cNvSpPr txBox="1"/>
          <p:nvPr/>
        </p:nvSpPr>
        <p:spPr>
          <a:xfrm>
            <a:off x="530352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8" name="step 3 head"/>
          <p:cNvSpPr txBox="1"/>
          <p:nvPr/>
        </p:nvSpPr>
        <p:spPr>
          <a:xfrm>
            <a:off x="5303520" y="233172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Power Query</a:t>
            </a:r>
            <a:endParaRPr lang="en-US" sz="1800" dirty="0"/>
          </a:p>
        </p:txBody>
      </p:sp>
      <p:sp>
        <p:nvSpPr>
          <p:cNvPr id="19" name="step 3 body"/>
          <p:cNvSpPr txBox="1"/>
          <p:nvPr/>
        </p:nvSpPr>
        <p:spPr>
          <a:xfrm>
            <a:off x="5303520" y="274320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25 queries: clean, map, band</a:t>
            </a:r>
            <a:endParaRPr lang="en-US" sz="1400" dirty="0"/>
          </a:p>
        </p:txBody>
      </p:sp>
      <p:sp>
        <p:nvSpPr>
          <p:cNvPr id="20" name="arrow 3"/>
          <p:cNvSpPr/>
          <p:nvPr/>
        </p:nvSpPr>
        <p:spPr>
          <a:xfrm>
            <a:off x="7139178" y="2331720"/>
            <a:ext cx="146304" cy="292608"/>
          </a:xfrm>
          <a:prstGeom prst="chevron">
            <a:avLst/>
          </a:prstGeom>
          <a:solidFill>
            <a:srgbClr val="9AA7BA"/>
          </a:solidFill>
          <a:ln w="12700">
            <a:solidFill>
              <a:srgbClr val="9AA7BA"/>
            </a:solidFill>
            <a:prstDash val="solid"/>
          </a:ln>
        </p:spPr>
      </p:sp>
      <p:sp>
        <p:nvSpPr>
          <p:cNvPr id="21" name="step 4 card"/>
          <p:cNvSpPr/>
          <p:nvPr/>
        </p:nvSpPr>
        <p:spPr>
          <a:xfrm>
            <a:off x="7338060" y="1463040"/>
            <a:ext cx="2011680" cy="1965960"/>
          </a:xfrm>
          <a:prstGeom prst="roundRect">
            <a:avLst>
              <a:gd name="adj" fmla="val 5581"/>
            </a:avLst>
          </a:prstGeom>
          <a:solidFill>
            <a:srgbClr val="F2F5FA"/>
          </a:solidFill>
          <a:ln w="12700">
            <a:solidFill>
              <a:srgbClr val="F2F5FA"/>
            </a:solidFill>
            <a:prstDash val="solid"/>
          </a:ln>
        </p:spPr>
      </p:sp>
      <p:sp>
        <p:nvSpPr>
          <p:cNvPr id="22" name="step 4 circle"/>
          <p:cNvSpPr/>
          <p:nvPr/>
        </p:nvSpPr>
        <p:spPr>
          <a:xfrm>
            <a:off x="7566660" y="1691640"/>
            <a:ext cx="502920" cy="502920"/>
          </a:xfrm>
          <a:prstGeom prst="ellipse">
            <a:avLst/>
          </a:prstGeom>
          <a:solidFill>
            <a:srgbClr val="118DFF"/>
          </a:solidFill>
          <a:ln w="12700">
            <a:solidFill>
              <a:srgbClr val="118DFF"/>
            </a:solidFill>
            <a:prstDash val="solid"/>
          </a:ln>
        </p:spPr>
      </p:sp>
      <p:sp>
        <p:nvSpPr>
          <p:cNvPr id="23" name="step 4 number"/>
          <p:cNvSpPr txBox="1"/>
          <p:nvPr/>
        </p:nvSpPr>
        <p:spPr>
          <a:xfrm>
            <a:off x="756666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4" name="step 4 head"/>
          <p:cNvSpPr txBox="1"/>
          <p:nvPr/>
        </p:nvSpPr>
        <p:spPr>
          <a:xfrm>
            <a:off x="7566660" y="233172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Model + DAX</a:t>
            </a:r>
            <a:endParaRPr lang="en-US" sz="1800" dirty="0"/>
          </a:p>
        </p:txBody>
      </p:sp>
      <p:sp>
        <p:nvSpPr>
          <p:cNvPr id="25" name="step 4 body"/>
          <p:cNvSpPr txBox="1"/>
          <p:nvPr/>
        </p:nvSpPr>
        <p:spPr>
          <a:xfrm>
            <a:off x="7566660" y="274320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Star schema, 33 measures</a:t>
            </a:r>
            <a:endParaRPr lang="en-US" sz="1400" dirty="0"/>
          </a:p>
        </p:txBody>
      </p:sp>
      <p:sp>
        <p:nvSpPr>
          <p:cNvPr id="26" name="arrow 4"/>
          <p:cNvSpPr/>
          <p:nvPr/>
        </p:nvSpPr>
        <p:spPr>
          <a:xfrm>
            <a:off x="9402318" y="2331720"/>
            <a:ext cx="146304" cy="292608"/>
          </a:xfrm>
          <a:prstGeom prst="chevron">
            <a:avLst/>
          </a:prstGeom>
          <a:solidFill>
            <a:srgbClr val="9AA7BA"/>
          </a:solidFill>
          <a:ln w="12700">
            <a:solidFill>
              <a:srgbClr val="9AA7BA"/>
            </a:solidFill>
            <a:prstDash val="solid"/>
          </a:ln>
        </p:spPr>
      </p:sp>
      <p:sp>
        <p:nvSpPr>
          <p:cNvPr id="27" name="step 5 card"/>
          <p:cNvSpPr/>
          <p:nvPr/>
        </p:nvSpPr>
        <p:spPr>
          <a:xfrm>
            <a:off x="9601200" y="1463040"/>
            <a:ext cx="2011680" cy="1965960"/>
          </a:xfrm>
          <a:prstGeom prst="roundRect">
            <a:avLst>
              <a:gd name="adj" fmla="val 5581"/>
            </a:avLst>
          </a:prstGeom>
          <a:solidFill>
            <a:srgbClr val="F2F5FA"/>
          </a:solidFill>
          <a:ln w="12700">
            <a:solidFill>
              <a:srgbClr val="F2F5FA"/>
            </a:solidFill>
            <a:prstDash val="solid"/>
          </a:ln>
        </p:spPr>
      </p:sp>
      <p:sp>
        <p:nvSpPr>
          <p:cNvPr id="28" name="step 5 circle"/>
          <p:cNvSpPr/>
          <p:nvPr/>
        </p:nvSpPr>
        <p:spPr>
          <a:xfrm>
            <a:off x="9829800" y="1691640"/>
            <a:ext cx="502920" cy="502920"/>
          </a:xfrm>
          <a:prstGeom prst="ellipse">
            <a:avLst/>
          </a:prstGeom>
          <a:solidFill>
            <a:srgbClr val="118DFF"/>
          </a:solidFill>
          <a:ln w="12700">
            <a:solidFill>
              <a:srgbClr val="118DFF"/>
            </a:solidFill>
            <a:prstDash val="solid"/>
          </a:ln>
        </p:spPr>
      </p:sp>
      <p:sp>
        <p:nvSpPr>
          <p:cNvPr id="29" name="step 5 number"/>
          <p:cNvSpPr txBox="1"/>
          <p:nvPr/>
        </p:nvSpPr>
        <p:spPr>
          <a:xfrm>
            <a:off x="982980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30" name="step 5 head"/>
          <p:cNvSpPr txBox="1"/>
          <p:nvPr/>
        </p:nvSpPr>
        <p:spPr>
          <a:xfrm>
            <a:off x="9829800" y="233172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Report</a:t>
            </a:r>
            <a:endParaRPr lang="en-US" sz="1800" dirty="0"/>
          </a:p>
        </p:txBody>
      </p:sp>
      <p:sp>
        <p:nvSpPr>
          <p:cNvPr id="31" name="step 5 body"/>
          <p:cNvSpPr txBox="1"/>
          <p:nvPr/>
        </p:nvSpPr>
        <p:spPr>
          <a:xfrm>
            <a:off x="9829800" y="274320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8 pages, drill-through</a:t>
            </a:r>
            <a:endParaRPr lang="en-US" sz="1400" dirty="0"/>
          </a:p>
        </p:txBody>
      </p:sp>
      <p:sp>
        <p:nvSpPr>
          <p:cNvPr id="32" name="validation card"/>
          <p:cNvSpPr/>
          <p:nvPr/>
        </p:nvSpPr>
        <p:spPr>
          <a:xfrm>
            <a:off x="548640" y="3886200"/>
            <a:ext cx="11064240" cy="1920240"/>
          </a:xfrm>
          <a:prstGeom prst="roundRect">
            <a:avLst>
              <a:gd name="adj" fmla="val 5714"/>
            </a:avLst>
          </a:prstGeom>
          <a:solidFill>
            <a:srgbClr val="D7E8FF"/>
          </a:solidFill>
          <a:ln w="12700">
            <a:solidFill>
              <a:srgbClr val="D7E8FF"/>
            </a:solidFill>
            <a:prstDash val="solid"/>
          </a:ln>
        </p:spPr>
      </p:sp>
      <p:sp>
        <p:nvSpPr>
          <p:cNvPr id="33" name="checks value"/>
          <p:cNvSpPr txBox="1"/>
          <p:nvPr/>
        </p:nvSpPr>
        <p:spPr>
          <a:xfrm>
            <a:off x="914400" y="416052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chemeClr val="accent3"/>
                </a:solidFill>
              </a:rPr>
              <a:t>498</a:t>
            </a:r>
            <a:endParaRPr lang="en-US" sz="6600" dirty="0"/>
          </a:p>
        </p:txBody>
      </p:sp>
      <p:sp>
        <p:nvSpPr>
          <p:cNvPr id="34" name="checks text"/>
          <p:cNvSpPr txBox="1"/>
          <p:nvPr/>
        </p:nvSpPr>
        <p:spPr>
          <a:xfrm>
            <a:off x="3931920" y="4206240"/>
            <a:ext cx="74066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chemeClr val="tx1"/>
                </a:solidFill>
              </a:rPr>
              <a:t>automated checks passed, Steps 1-7</a:t>
            </a:r>
            <a:endParaRPr lang="en-US" sz="2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2"/>
                </a:solidFill>
              </a:rPr>
              <a:t>Every displayed number was compared with an independent calculation from the raw CSV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A star schema built for slicing</a:t>
            </a:r>
            <a:endParaRPr lang="en-US" sz="3600" dirty="0"/>
          </a:p>
        </p:txBody>
      </p:sp>
      <p:pic>
        <p:nvPicPr>
          <p:cNvPr id="3" name="star schema" descr="Star schema: FactEmployee in the centre, nine dimension tables around i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6766560" cy="4242526"/>
          </a:xfrm>
          <a:prstGeom prst="rect">
            <a:avLst/>
          </a:prstGeom>
        </p:spPr>
      </p:pic>
      <p:sp>
        <p:nvSpPr>
          <p:cNvPr id="4" name="point 1 circle"/>
          <p:cNvSpPr/>
          <p:nvPr/>
        </p:nvSpPr>
        <p:spPr>
          <a:xfrm>
            <a:off x="7635240" y="1508760"/>
            <a:ext cx="457200" cy="457200"/>
          </a:xfrm>
          <a:prstGeom prst="ellipse">
            <a:avLst/>
          </a:prstGeom>
          <a:solidFill>
            <a:srgbClr val="118DFF"/>
          </a:solidFill>
          <a:ln w="12700">
            <a:solidFill>
              <a:srgbClr val="118DFF"/>
            </a:solidFill>
            <a:prstDash val="solid"/>
          </a:ln>
        </p:spPr>
      </p:sp>
      <p:sp>
        <p:nvSpPr>
          <p:cNvPr id="5" name="point 1 number"/>
          <p:cNvSpPr txBox="1"/>
          <p:nvPr/>
        </p:nvSpPr>
        <p:spPr>
          <a:xfrm>
            <a:off x="763524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point 1 head"/>
          <p:cNvSpPr txBox="1"/>
          <p:nvPr/>
        </p:nvSpPr>
        <p:spPr>
          <a:xfrm>
            <a:off x="8275320" y="14630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Single-direction filters</a:t>
            </a:r>
            <a:endParaRPr lang="en-US" sz="1800" dirty="0"/>
          </a:p>
        </p:txBody>
      </p:sp>
      <p:sp>
        <p:nvSpPr>
          <p:cNvPr id="7" name="point 1 body"/>
          <p:cNvSpPr txBox="1"/>
          <p:nvPr/>
        </p:nvSpPr>
        <p:spPr>
          <a:xfrm>
            <a:off x="8275320" y="1847088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9 one-to-many relationships, dimension to fact - no ambiguous paths</a:t>
            </a:r>
            <a:endParaRPr lang="en-US" sz="1400" dirty="0"/>
          </a:p>
        </p:txBody>
      </p:sp>
      <p:sp>
        <p:nvSpPr>
          <p:cNvPr id="8" name="point 2 circle"/>
          <p:cNvSpPr/>
          <p:nvPr/>
        </p:nvSpPr>
        <p:spPr>
          <a:xfrm>
            <a:off x="7635240" y="2697480"/>
            <a:ext cx="457200" cy="457200"/>
          </a:xfrm>
          <a:prstGeom prst="ellipse">
            <a:avLst/>
          </a:prstGeom>
          <a:solidFill>
            <a:srgbClr val="118DFF"/>
          </a:solidFill>
          <a:ln w="12700">
            <a:solidFill>
              <a:srgbClr val="118DFF"/>
            </a:solidFill>
            <a:prstDash val="solid"/>
          </a:ln>
        </p:spPr>
      </p:sp>
      <p:sp>
        <p:nvSpPr>
          <p:cNvPr id="9" name="point 2 number"/>
          <p:cNvSpPr txBox="1"/>
          <p:nvPr/>
        </p:nvSpPr>
        <p:spPr>
          <a:xfrm>
            <a:off x="7635240" y="2697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point 2 head"/>
          <p:cNvSpPr txBox="1"/>
          <p:nvPr/>
        </p:nvSpPr>
        <p:spPr>
          <a:xfrm>
            <a:off x="8275320" y="26517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Measures, not columns</a:t>
            </a:r>
            <a:endParaRPr lang="en-US" sz="1800" dirty="0"/>
          </a:p>
        </p:txBody>
      </p:sp>
      <p:sp>
        <p:nvSpPr>
          <p:cNvPr id="11" name="point 2 body"/>
          <p:cNvSpPr txBox="1"/>
          <p:nvPr/>
        </p:nvSpPr>
        <p:spPr>
          <a:xfrm>
            <a:off x="8275320" y="3035808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33 DAX measures with DIVIDE, KEEPFILTERS and a REMOVEFILTERS company baseline</a:t>
            </a:r>
            <a:endParaRPr lang="en-US" sz="1400" dirty="0"/>
          </a:p>
        </p:txBody>
      </p:sp>
      <p:sp>
        <p:nvSpPr>
          <p:cNvPr id="12" name="point 3 circle"/>
          <p:cNvSpPr/>
          <p:nvPr/>
        </p:nvSpPr>
        <p:spPr>
          <a:xfrm>
            <a:off x="7635240" y="3886200"/>
            <a:ext cx="457200" cy="457200"/>
          </a:xfrm>
          <a:prstGeom prst="ellipse">
            <a:avLst/>
          </a:prstGeom>
          <a:solidFill>
            <a:srgbClr val="118DFF"/>
          </a:solidFill>
          <a:ln w="12700">
            <a:solidFill>
              <a:srgbClr val="118DFF"/>
            </a:solidFill>
            <a:prstDash val="solid"/>
          </a:ln>
        </p:spPr>
      </p:sp>
      <p:sp>
        <p:nvSpPr>
          <p:cNvPr id="13" name="point 3 number"/>
          <p:cNvSpPr txBox="1"/>
          <p:nvPr/>
        </p:nvSpPr>
        <p:spPr>
          <a:xfrm>
            <a:off x="763524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4" name="point 3 head"/>
          <p:cNvSpPr txBox="1"/>
          <p:nvPr/>
        </p:nvSpPr>
        <p:spPr>
          <a:xfrm>
            <a:off x="8275320" y="38404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Self-testing</a:t>
            </a:r>
            <a:endParaRPr lang="en-US" sz="1800" dirty="0"/>
          </a:p>
        </p:txBody>
      </p:sp>
      <p:sp>
        <p:nvSpPr>
          <p:cNvPr id="15" name="point 3 body"/>
          <p:cNvSpPr txBox="1"/>
          <p:nvPr/>
        </p:nvSpPr>
        <p:spPr>
          <a:xfrm>
            <a:off x="8275320" y="4224528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35 QA checks recalculated on every refresh</a:t>
            </a:r>
            <a:endParaRPr lang="en-US" sz="1400" dirty="0"/>
          </a:p>
        </p:txBody>
      </p:sp>
      <p:sp>
        <p:nvSpPr>
          <p:cNvPr id="16" name="point 4 circle"/>
          <p:cNvSpPr/>
          <p:nvPr/>
        </p:nvSpPr>
        <p:spPr>
          <a:xfrm>
            <a:off x="7635240" y="5074920"/>
            <a:ext cx="457200" cy="457200"/>
          </a:xfrm>
          <a:prstGeom prst="ellipse">
            <a:avLst/>
          </a:prstGeom>
          <a:solidFill>
            <a:srgbClr val="118DFF"/>
          </a:solidFill>
          <a:ln w="12700">
            <a:solidFill>
              <a:srgbClr val="118DFF"/>
            </a:solidFill>
            <a:prstDash val="solid"/>
          </a:ln>
        </p:spPr>
      </p:sp>
      <p:sp>
        <p:nvSpPr>
          <p:cNvPr id="17" name="point 4 number"/>
          <p:cNvSpPr txBox="1"/>
          <p:nvPr/>
        </p:nvSpPr>
        <p:spPr>
          <a:xfrm>
            <a:off x="7635240" y="5074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18" name="point 4 head"/>
          <p:cNvSpPr txBox="1"/>
          <p:nvPr/>
        </p:nvSpPr>
        <p:spPr>
          <a:xfrm>
            <a:off x="8275320" y="50292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Code, not clicks</a:t>
            </a:r>
            <a:endParaRPr lang="en-US" sz="1800" dirty="0"/>
          </a:p>
        </p:txBody>
      </p:sp>
      <p:sp>
        <p:nvSpPr>
          <p:cNvPr id="19" name="point 4 body"/>
          <p:cNvSpPr txBox="1"/>
          <p:nvPr/>
        </p:nvSpPr>
        <p:spPr>
          <a:xfrm>
            <a:off x="8275320" y="5413248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PBIP / TMDL text format: reviewable in Git and rebuildable from scripts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Overtime and the first year stand out</a:t>
            </a:r>
            <a:endParaRPr lang="en-US" sz="3600" dirty="0"/>
          </a:p>
        </p:txBody>
      </p:sp>
      <p:graphicFrame>
        <p:nvGraphicFramePr>
          <p:cNvPr id="3" name="attrition by group chart" descr=""/>
          <p:cNvGraphicFramePr/>
          <p:nvPr/>
        </p:nvGraphicFramePr>
        <p:xfrm>
          <a:off x="548640" y="1371600"/>
          <a:ext cx="6217920" cy="4343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finding 1 card"/>
          <p:cNvSpPr/>
          <p:nvPr/>
        </p:nvSpPr>
        <p:spPr>
          <a:xfrm>
            <a:off x="7040880" y="1417320"/>
            <a:ext cx="4572000" cy="1234440"/>
          </a:xfrm>
          <a:prstGeom prst="roundRect">
            <a:avLst>
              <a:gd name="adj" fmla="val 7407"/>
            </a:avLst>
          </a:prstGeom>
          <a:solidFill>
            <a:srgbClr val="F2F5FA"/>
          </a:solidFill>
          <a:ln w="12700">
            <a:solidFill>
              <a:srgbClr val="F2F5FA"/>
            </a:solidFill>
            <a:prstDash val="solid"/>
          </a:ln>
        </p:spPr>
      </p:sp>
      <p:sp>
        <p:nvSpPr>
          <p:cNvPr id="5" name="finding 1 value"/>
          <p:cNvSpPr txBox="1"/>
          <p:nvPr/>
        </p:nvSpPr>
        <p:spPr>
          <a:xfrm>
            <a:off x="7223760" y="1527048"/>
            <a:ext cx="1965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2.9x</a:t>
            </a:r>
            <a:endParaRPr lang="en-US" sz="3000" dirty="0"/>
          </a:p>
        </p:txBody>
      </p:sp>
      <p:sp>
        <p:nvSpPr>
          <p:cNvPr id="6" name="finding 1 text"/>
          <p:cNvSpPr txBox="1"/>
          <p:nvPr/>
        </p:nvSpPr>
        <p:spPr>
          <a:xfrm>
            <a:off x="9281160" y="1508760"/>
            <a:ext cx="2194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higher attrition with overtime (30.5% vs 10.4%); odds ratio 5.0 after controls</a:t>
            </a:r>
            <a:endParaRPr lang="en-US" sz="1400" dirty="0"/>
          </a:p>
        </p:txBody>
      </p:sp>
      <p:sp>
        <p:nvSpPr>
          <p:cNvPr id="7" name="finding 2 card"/>
          <p:cNvSpPr/>
          <p:nvPr/>
        </p:nvSpPr>
        <p:spPr>
          <a:xfrm>
            <a:off x="7040880" y="2834640"/>
            <a:ext cx="4572000" cy="1234440"/>
          </a:xfrm>
          <a:prstGeom prst="roundRect">
            <a:avLst>
              <a:gd name="adj" fmla="val 7407"/>
            </a:avLst>
          </a:prstGeom>
          <a:solidFill>
            <a:srgbClr val="F2F5FA"/>
          </a:solidFill>
          <a:ln w="12700">
            <a:solidFill>
              <a:srgbClr val="F2F5FA"/>
            </a:solidFill>
            <a:prstDash val="solid"/>
          </a:ln>
        </p:spPr>
      </p:sp>
      <p:sp>
        <p:nvSpPr>
          <p:cNvPr id="8" name="finding 2 value"/>
          <p:cNvSpPr txBox="1"/>
          <p:nvPr/>
        </p:nvSpPr>
        <p:spPr>
          <a:xfrm>
            <a:off x="7223760" y="2944368"/>
            <a:ext cx="1965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3"/>
                </a:solidFill>
              </a:rPr>
              <a:t>55.1%</a:t>
            </a:r>
            <a:endParaRPr lang="en-US" sz="3000" dirty="0"/>
          </a:p>
        </p:txBody>
      </p:sp>
      <p:sp>
        <p:nvSpPr>
          <p:cNvPr id="9" name="finding 2 text"/>
          <p:cNvSpPr txBox="1"/>
          <p:nvPr/>
        </p:nvSpPr>
        <p:spPr>
          <a:xfrm>
            <a:off x="9281160" y="2926080"/>
            <a:ext cx="2194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attrition in the first 0-1 years when combined with overtime</a:t>
            </a:r>
            <a:endParaRPr lang="en-US" sz="1400" dirty="0"/>
          </a:p>
        </p:txBody>
      </p:sp>
      <p:sp>
        <p:nvSpPr>
          <p:cNvPr id="10" name="finding 3 card"/>
          <p:cNvSpPr/>
          <p:nvPr/>
        </p:nvSpPr>
        <p:spPr>
          <a:xfrm>
            <a:off x="7040880" y="4251960"/>
            <a:ext cx="4572000" cy="1234440"/>
          </a:xfrm>
          <a:prstGeom prst="roundRect">
            <a:avLst>
              <a:gd name="adj" fmla="val 7407"/>
            </a:avLst>
          </a:prstGeom>
          <a:solidFill>
            <a:srgbClr val="F2F5FA"/>
          </a:solidFill>
          <a:ln w="12700">
            <a:solidFill>
              <a:srgbClr val="F2F5FA"/>
            </a:solidFill>
            <a:prstDash val="solid"/>
          </a:ln>
        </p:spPr>
      </p:sp>
      <p:sp>
        <p:nvSpPr>
          <p:cNvPr id="11" name="finding 3 value"/>
          <p:cNvSpPr txBox="1"/>
          <p:nvPr/>
        </p:nvSpPr>
        <p:spPr>
          <a:xfrm>
            <a:off x="7223760" y="4361688"/>
            <a:ext cx="1965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3"/>
                </a:solidFill>
              </a:rPr>
              <a:t>+23.6 pts</a:t>
            </a:r>
            <a:endParaRPr lang="en-US" sz="3000" dirty="0"/>
          </a:p>
        </p:txBody>
      </p:sp>
      <p:sp>
        <p:nvSpPr>
          <p:cNvPr id="12" name="finding 3 text"/>
          <p:cNvSpPr txBox="1"/>
          <p:nvPr/>
        </p:nvSpPr>
        <p:spPr>
          <a:xfrm>
            <a:off x="9281160" y="4343400"/>
            <a:ext cx="2194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Sales Representatives vs the company rate</a:t>
            </a:r>
            <a:endParaRPr lang="en-US" sz="1400" dirty="0"/>
          </a:p>
        </p:txBody>
      </p:sp>
      <p:sp>
        <p:nvSpPr>
          <p:cNvPr id="13" name="footnote"/>
          <p:cNvSpPr txBox="1"/>
          <p:nvPr/>
        </p:nvSpPr>
        <p:spPr>
          <a:xfrm>
            <a:off x="548640" y="58064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tx2"/>
                </a:solidFill>
              </a:rPr>
              <a:t>Performance rating does not predict attrition (16.4% Outstanding vs 16.1% others). Associations in a snapshot, not proven causes.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Four actions to pilot, one data fix</a:t>
            </a:r>
            <a:endParaRPr lang="en-US" sz="3600" dirty="0"/>
          </a:p>
        </p:txBody>
      </p:sp>
      <p:sp>
        <p:nvSpPr>
          <p:cNvPr id="3" name="action 1 card"/>
          <p:cNvSpPr/>
          <p:nvPr/>
        </p:nvSpPr>
        <p:spPr>
          <a:xfrm>
            <a:off x="548640" y="1371600"/>
            <a:ext cx="5440680" cy="1920240"/>
          </a:xfrm>
          <a:prstGeom prst="roundRect">
            <a:avLst>
              <a:gd name="adj" fmla="val 5714"/>
            </a:avLst>
          </a:prstGeom>
          <a:solidFill>
            <a:srgbClr val="2A3A5C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4" name="action 1 circle"/>
          <p:cNvSpPr/>
          <p:nvPr/>
        </p:nvSpPr>
        <p:spPr>
          <a:xfrm>
            <a:off x="777240" y="1600200"/>
            <a:ext cx="502920" cy="502920"/>
          </a:xfrm>
          <a:prstGeom prst="ellipse">
            <a:avLst/>
          </a:prstGeom>
          <a:solidFill>
            <a:srgbClr val="118DFF"/>
          </a:solidFill>
          <a:ln w="12700">
            <a:solidFill>
              <a:srgbClr val="118DFF"/>
            </a:solidFill>
            <a:prstDash val="solid"/>
          </a:ln>
        </p:spPr>
      </p:sp>
      <p:sp>
        <p:nvSpPr>
          <p:cNvPr id="5" name="action 1 number"/>
          <p:cNvSpPr txBox="1"/>
          <p:nvPr/>
        </p:nvSpPr>
        <p:spPr>
          <a:xfrm>
            <a:off x="777240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action 1 head"/>
          <p:cNvSpPr txBox="1"/>
          <p:nvPr/>
        </p:nvSpPr>
        <p:spPr>
          <a:xfrm>
            <a:off x="1463040" y="1572768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Reduce sustained overtime</a:t>
            </a:r>
            <a:endParaRPr lang="en-US" sz="2000" dirty="0"/>
          </a:p>
        </p:txBody>
      </p:sp>
      <p:sp>
        <p:nvSpPr>
          <p:cNvPr id="7" name="action 1 body"/>
          <p:cNvSpPr txBox="1"/>
          <p:nvPr/>
        </p:nvSpPr>
        <p:spPr>
          <a:xfrm>
            <a:off x="1463040" y="2103120"/>
            <a:ext cx="434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Monthly overtime reviews and workload rebalancing, starting with the highest-risk roles</a:t>
            </a:r>
            <a:endParaRPr lang="en-US" sz="1400" dirty="0"/>
          </a:p>
        </p:txBody>
      </p:sp>
      <p:sp>
        <p:nvSpPr>
          <p:cNvPr id="8" name="action 1 track"/>
          <p:cNvSpPr txBox="1"/>
          <p:nvPr/>
        </p:nvSpPr>
        <p:spPr>
          <a:xfrm>
            <a:off x="1463040" y="2788920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Track: Overtime %, Attrition Rate - Overtime</a:t>
            </a:r>
            <a:endParaRPr lang="en-US" sz="1300" dirty="0"/>
          </a:p>
        </p:txBody>
      </p:sp>
      <p:sp>
        <p:nvSpPr>
          <p:cNvPr id="9" name="action 2 card"/>
          <p:cNvSpPr/>
          <p:nvPr/>
        </p:nvSpPr>
        <p:spPr>
          <a:xfrm>
            <a:off x="6172200" y="1371600"/>
            <a:ext cx="5440680" cy="1920240"/>
          </a:xfrm>
          <a:prstGeom prst="roundRect">
            <a:avLst>
              <a:gd name="adj" fmla="val 5714"/>
            </a:avLst>
          </a:prstGeom>
          <a:solidFill>
            <a:srgbClr val="2A3A5C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10" name="action 2 circle"/>
          <p:cNvSpPr/>
          <p:nvPr/>
        </p:nvSpPr>
        <p:spPr>
          <a:xfrm>
            <a:off x="6400800" y="1600200"/>
            <a:ext cx="502920" cy="502920"/>
          </a:xfrm>
          <a:prstGeom prst="ellipse">
            <a:avLst/>
          </a:prstGeom>
          <a:solidFill>
            <a:srgbClr val="118DFF"/>
          </a:solidFill>
          <a:ln w="12700">
            <a:solidFill>
              <a:srgbClr val="118DFF"/>
            </a:solidFill>
            <a:prstDash val="solid"/>
          </a:ln>
        </p:spPr>
      </p:sp>
      <p:sp>
        <p:nvSpPr>
          <p:cNvPr id="11" name="action 2 number"/>
          <p:cNvSpPr txBox="1"/>
          <p:nvPr/>
        </p:nvSpPr>
        <p:spPr>
          <a:xfrm>
            <a:off x="6400800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action 2 head"/>
          <p:cNvSpPr txBox="1"/>
          <p:nvPr/>
        </p:nvSpPr>
        <p:spPr>
          <a:xfrm>
            <a:off x="7086600" y="1572768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Make the first year stick</a:t>
            </a:r>
            <a:endParaRPr lang="en-US" sz="2000" dirty="0"/>
          </a:p>
        </p:txBody>
      </p:sp>
      <p:sp>
        <p:nvSpPr>
          <p:cNvPr id="13" name="action 2 body"/>
          <p:cNvSpPr txBox="1"/>
          <p:nvPr/>
        </p:nvSpPr>
        <p:spPr>
          <a:xfrm>
            <a:off x="7086600" y="2103120"/>
            <a:ext cx="434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90-day onboarding, a mentor for every new hire, front-loaded learning</a:t>
            </a:r>
            <a:endParaRPr lang="en-US" sz="1400" dirty="0"/>
          </a:p>
        </p:txBody>
      </p:sp>
      <p:sp>
        <p:nvSpPr>
          <p:cNvPr id="14" name="action 2 track"/>
          <p:cNvSpPr txBox="1"/>
          <p:nvPr/>
        </p:nvSpPr>
        <p:spPr>
          <a:xfrm>
            <a:off x="7086600" y="2788920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Track: Early Tenure Attrition Rate (0-1 yrs)</a:t>
            </a:r>
            <a:endParaRPr lang="en-US" sz="1300" dirty="0"/>
          </a:p>
        </p:txBody>
      </p:sp>
      <p:sp>
        <p:nvSpPr>
          <p:cNvPr id="15" name="action 3 card"/>
          <p:cNvSpPr/>
          <p:nvPr/>
        </p:nvSpPr>
        <p:spPr>
          <a:xfrm>
            <a:off x="548640" y="3474720"/>
            <a:ext cx="5440680" cy="1920240"/>
          </a:xfrm>
          <a:prstGeom prst="roundRect">
            <a:avLst>
              <a:gd name="adj" fmla="val 5714"/>
            </a:avLst>
          </a:prstGeom>
          <a:solidFill>
            <a:srgbClr val="2A3A5C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16" name="action 3 circle"/>
          <p:cNvSpPr/>
          <p:nvPr/>
        </p:nvSpPr>
        <p:spPr>
          <a:xfrm>
            <a:off x="777240" y="3703320"/>
            <a:ext cx="502920" cy="502920"/>
          </a:xfrm>
          <a:prstGeom prst="ellipse">
            <a:avLst/>
          </a:prstGeom>
          <a:solidFill>
            <a:srgbClr val="118DFF"/>
          </a:solidFill>
          <a:ln w="12700">
            <a:solidFill>
              <a:srgbClr val="118DFF"/>
            </a:solidFill>
            <a:prstDash val="solid"/>
          </a:ln>
        </p:spPr>
      </p:sp>
      <p:sp>
        <p:nvSpPr>
          <p:cNvPr id="17" name="action 3 number"/>
          <p:cNvSpPr txBox="1"/>
          <p:nvPr/>
        </p:nvSpPr>
        <p:spPr>
          <a:xfrm>
            <a:off x="777240" y="3703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8" name="action 3 head"/>
          <p:cNvSpPr txBox="1"/>
          <p:nvPr/>
        </p:nvSpPr>
        <p:spPr>
          <a:xfrm>
            <a:off x="1463040" y="3675888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Retain Sales Representatives</a:t>
            </a:r>
            <a:endParaRPr lang="en-US" sz="2000" dirty="0"/>
          </a:p>
        </p:txBody>
      </p:sp>
      <p:sp>
        <p:nvSpPr>
          <p:cNvPr id="19" name="action 3 body"/>
          <p:cNvSpPr txBox="1"/>
          <p:nvPr/>
        </p:nvSpPr>
        <p:spPr>
          <a:xfrm>
            <a:off x="1463040" y="4206240"/>
            <a:ext cx="434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Pay and incentive benchmark, career path to Sales Executive (39.8% attrition today)</a:t>
            </a:r>
            <a:endParaRPr lang="en-US" sz="1400" dirty="0"/>
          </a:p>
        </p:txBody>
      </p:sp>
      <p:sp>
        <p:nvSpPr>
          <p:cNvPr id="20" name="action 3 track"/>
          <p:cNvSpPr txBox="1"/>
          <p:nvPr/>
        </p:nvSpPr>
        <p:spPr>
          <a:xfrm>
            <a:off x="1463040" y="4892040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Track: Attrition vs Company (pts)</a:t>
            </a:r>
            <a:endParaRPr lang="en-US" sz="1300" dirty="0"/>
          </a:p>
        </p:txBody>
      </p:sp>
      <p:sp>
        <p:nvSpPr>
          <p:cNvPr id="21" name="action 4 card"/>
          <p:cNvSpPr/>
          <p:nvPr/>
        </p:nvSpPr>
        <p:spPr>
          <a:xfrm>
            <a:off x="6172200" y="3474720"/>
            <a:ext cx="5440680" cy="1920240"/>
          </a:xfrm>
          <a:prstGeom prst="roundRect">
            <a:avLst>
              <a:gd name="adj" fmla="val 5714"/>
            </a:avLst>
          </a:prstGeom>
          <a:solidFill>
            <a:srgbClr val="2A3A5C"/>
          </a:solidFill>
          <a:ln w="12700">
            <a:solidFill>
              <a:srgbClr val="2A3A5C"/>
            </a:solidFill>
            <a:prstDash val="solid"/>
          </a:ln>
        </p:spPr>
      </p:sp>
      <p:sp>
        <p:nvSpPr>
          <p:cNvPr id="22" name="action 4 circle"/>
          <p:cNvSpPr/>
          <p:nvPr/>
        </p:nvSpPr>
        <p:spPr>
          <a:xfrm>
            <a:off x="6400800" y="3703320"/>
            <a:ext cx="502920" cy="502920"/>
          </a:xfrm>
          <a:prstGeom prst="ellipse">
            <a:avLst/>
          </a:prstGeom>
          <a:solidFill>
            <a:srgbClr val="118DFF"/>
          </a:solidFill>
          <a:ln w="12700">
            <a:solidFill>
              <a:srgbClr val="118DFF"/>
            </a:solidFill>
            <a:prstDash val="solid"/>
          </a:ln>
        </p:spPr>
      </p:sp>
      <p:sp>
        <p:nvSpPr>
          <p:cNvPr id="23" name="action 4 number"/>
          <p:cNvSpPr txBox="1"/>
          <p:nvPr/>
        </p:nvSpPr>
        <p:spPr>
          <a:xfrm>
            <a:off x="6400800" y="3703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4" name="action 4 head"/>
          <p:cNvSpPr txBox="1"/>
          <p:nvPr/>
        </p:nvSpPr>
        <p:spPr>
          <a:xfrm>
            <a:off x="7086600" y="3675888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Act on engagement signals</a:t>
            </a:r>
            <a:endParaRPr lang="en-US" sz="2000" dirty="0"/>
          </a:p>
        </p:txBody>
      </p:sp>
      <p:sp>
        <p:nvSpPr>
          <p:cNvPr id="25" name="action 4 body"/>
          <p:cNvSpPr txBox="1"/>
          <p:nvPr/>
        </p:nvSpPr>
        <p:spPr>
          <a:xfrm>
            <a:off x="7086600" y="4206240"/>
            <a:ext cx="434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Quarterly pulse survey, manager follow-up within 30 days</a:t>
            </a:r>
            <a:endParaRPr lang="en-US" sz="1400" dirty="0"/>
          </a:p>
        </p:txBody>
      </p:sp>
      <p:sp>
        <p:nvSpPr>
          <p:cNvPr id="26" name="action 4 track"/>
          <p:cNvSpPr txBox="1"/>
          <p:nvPr/>
        </p:nvSpPr>
        <p:spPr>
          <a:xfrm>
            <a:off x="7086600" y="4892040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Track: % Low Job Satisfaction</a:t>
            </a:r>
            <a:endParaRPr lang="en-US" sz="1300" dirty="0"/>
          </a:p>
        </p:txBody>
      </p:sp>
      <p:sp>
        <p:nvSpPr>
          <p:cNvPr id="27" name="data fix"/>
          <p:cNvSpPr txBox="1"/>
          <p:nvPr/>
        </p:nvSpPr>
        <p:spPr>
          <a:xfrm>
            <a:off x="548640" y="571500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Data fix: record course type, hours and completion, calibrate performance ratings, and add dates to measure whether the actions work.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alent Analytics">
  <a:themeElements>
    <a:clrScheme name="Talent Analytics">
      <a:dk1>
        <a:srgbClr val="1E2A44"/>
      </a:dk1>
      <a:lt1>
        <a:srgbClr val="FFFFFF"/>
      </a:lt1>
      <a:dk2>
        <a:srgbClr val="5B6B82"/>
      </a:dk2>
      <a:lt2>
        <a:srgbClr val="F2F5FA"/>
      </a:lt2>
      <a:accent1>
        <a:srgbClr val="118DFF"/>
      </a:accent1>
      <a:accent2>
        <a:srgbClr val="E4572E"/>
      </a:accent2>
      <a:accent3>
        <a:srgbClr val="0B5CAD"/>
      </a:accent3>
      <a:accent4>
        <a:srgbClr val="9AA7BA"/>
      </a:accent4>
      <a:accent5>
        <a:srgbClr val="D7E8FF"/>
      </a:accent5>
      <a:accent6>
        <a:srgbClr val="2BB673"/>
      </a:accent6>
      <a:hlink>
        <a:srgbClr val="118DFF"/>
      </a:hlink>
      <a:folHlink>
        <a:srgbClr val="0B5CAD"/>
      </a:folHlink>
    </a:clrScheme>
    <a:fontScheme name="Talent Analytics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Talent &amp; Learning Analytics - summary</dc:title>
  <dc:subject>PptxGenJS Presentation</dc:subject>
  <dc:creator>Kapil Sandhu</dc:creator>
  <cp:lastModifiedBy>Kapil Sandhu</cp:lastModifiedBy>
  <cp:revision>1</cp:revision>
  <dcterms:created xsi:type="dcterms:W3CDTF">2026-10-23T19:05:58Z</dcterms:created>
  <dcterms:modified xsi:type="dcterms:W3CDTF">2026-10-23T19:05:58Z</dcterms:modified>
</cp:coreProperties>
</file>